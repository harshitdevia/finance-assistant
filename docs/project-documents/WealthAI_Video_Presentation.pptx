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80960" y="0"/>
            <a:ext cx="451073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80960" y="0"/>
            <a:ext cx="27432" cy="6858000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2DD4BF"/>
                </a:solidFill>
                <a:latin typeface="Segoe UI"/>
              </a:rPr>
              <a:t>MCA SEMESTER IV  ·  RESEARCH PROJECT  ·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Segoe UI"/>
              </a:rPr>
              <a:t>WealthAI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6400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>
                <a:solidFill>
                  <a:srgbClr val="E2E8F0"/>
                </a:solidFill>
                <a:latin typeface="Segoe UI"/>
              </a:rPr>
              <a:t>AI-Powered Personal Finance Assistant with Machine Learning Classification, Spending Outlier Analytics and Stochastic Projections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160520"/>
            <a:ext cx="146304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6400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Submitted by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Deviya HarshitKumar KalpeshKumar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USN 241VMTR01558   ·   Elective: Data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188720"/>
            <a:ext cx="3566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2DD4BF"/>
                </a:solidFill>
                <a:latin typeface="Segoe UI"/>
              </a:rPr>
              <a:t>UNDER THE GUIDANCE OF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Prof. Prabha 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Faculty Guide, Department of Computer Applications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2880360"/>
            <a:ext cx="3063240" cy="18288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3154680"/>
            <a:ext cx="3566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Jain Online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(Deemed-to-be University), Bengaluru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In partial fulfilment of the requirements for the award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2DD4BF"/>
                </a:solidFill>
                <a:latin typeface="Segoe UI"/>
              </a:rPr>
              <a:t>Master of Computer 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598932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Academic Year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54864" cy="3840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Segoe UI"/>
              </a:rPr>
              <a:t>CHAPTER 1  ·  PROBLEM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Personal finance is fragmented, manual and static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17352" cy="18288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Users hold money across banks, brokers, wallets and cards. No single view of net worth exists, and the tools that do exist stop at record-keeping.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3502152" cy="3017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697480"/>
            <a:ext cx="350215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D9488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Information fragmentation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Accounts spread across multiple banks, brokers, card issuers and wallets. Computing total net worth is manual labour.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697480"/>
            <a:ext cx="3502152" cy="3017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2697480"/>
            <a:ext cx="350215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29718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D9488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356616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Slow, error-prone categorisation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429768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Hundreds of raw monthly transaction descriptions must be labelled by hand. Budget tracking collapses under user fatigue.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2697480"/>
            <a:ext cx="3502152" cy="30175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4" y="2697480"/>
            <a:ext cx="3502152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29718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0D9488"/>
                </a:solidFill>
                <a:latin typeface="Segoe U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356616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Late anomalies, static forecasting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429768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Double charges and silent price hikes surface only at month end. Goal calculators still use fixed-rate A = P(1+r)^t, ignoring volatility.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WealthAI  ·  Deviya HarshitKumar KalpeshKumar  ·  241VMTR01558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3276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54864" cy="3840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Segoe UI"/>
              </a:rPr>
              <a:t>CHAPTER 1  ·  AIM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 WealthAI sets out to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17352" cy="18288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074920" cy="4206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2DD4BF"/>
                </a:solidFill>
                <a:latin typeface="Segoe UI"/>
              </a:rPr>
              <a:t>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14600"/>
            <a:ext cx="43891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Design, implement and deploy an automated, full-stack, AI-driven personal finance application that consolidates user records, categorises transactions with machine learning, flags irregular spending, evaluates long-term goals using stochastic Monte Carlo simulation, tracks live asset prices and answers financial questions through a conversational interface.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8288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2DD4BF"/>
                </a:solidFill>
                <a:latin typeface="Segoe UI"/>
              </a:rPr>
              <a:t>FUNCTIONAL OBJECTIVES  ·  7 CORE MODULES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286000"/>
            <a:ext cx="5212080" cy="4572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286000"/>
            <a:ext cx="41148" cy="4572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40487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Automated CSV import and ML categorisation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798064"/>
            <a:ext cx="5212080" cy="457200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798064"/>
            <a:ext cx="41148" cy="4572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916936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Budgets, savings goals and subscription 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310128"/>
            <a:ext cx="5212080" cy="4572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310128"/>
            <a:ext cx="41148" cy="4572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42900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Portfolio management with live market quotes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822191"/>
            <a:ext cx="5212080" cy="457200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822191"/>
            <a:ext cx="41148" cy="4572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941063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Spending anomaly detection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4334256"/>
            <a:ext cx="5212080" cy="4572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4334256"/>
            <a:ext cx="41148" cy="4572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45312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Short-term expense forecasting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846320"/>
            <a:ext cx="5212080" cy="457200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846320"/>
            <a:ext cx="41148" cy="4572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96519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Stochastic goal and portfolio projections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358384"/>
            <a:ext cx="5212080" cy="4572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5358384"/>
            <a:ext cx="41148" cy="4572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5477256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Interactive financial chatbot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WealthAI  ·  Deviya HarshitKumar KalpeshKumar  ·  241VMTR01558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3276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54864" cy="3840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Segoe UI"/>
              </a:rPr>
              <a:t>CHAPTER 2  ·  REVIEW OF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Where existing approaches fall short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17352" cy="18288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10817352" cy="43891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56815"/>
            <a:ext cx="16459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2616" y="1956815"/>
            <a:ext cx="283463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Conventional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0136" y="1956815"/>
            <a:ext cx="283463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Limitation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77656" y="1956815"/>
            <a:ext cx="277063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Adopted in WealthAI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313432"/>
            <a:ext cx="10817352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2395727"/>
            <a:ext cx="1645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Transaction
categorisation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2616" y="2395727"/>
            <a:ext cx="2834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Manual entry and fixed rule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0136" y="2395727"/>
            <a:ext cx="2834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Does not generalise to unseen merchant strings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7656" y="2395727"/>
            <a:ext cx="27706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TF-IDF vectorisation + Multinomial Naive Bayes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044952"/>
            <a:ext cx="10817352" cy="731520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127248"/>
            <a:ext cx="1645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Anomaly
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2616" y="3127248"/>
            <a:ext cx="2834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Fixed amount thresholds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0136" y="3127248"/>
            <a:ext cx="2834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High false-positive rate; ignores personal baselines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7656" y="3127248"/>
            <a:ext cx="27706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Isolation Forest, Z-score fallback under 15 records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776472"/>
            <a:ext cx="10817352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3858768"/>
            <a:ext cx="1645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Expense
forecasting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42616" y="3858768"/>
            <a:ext cx="2834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Simple month-on-month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0136" y="3858768"/>
            <a:ext cx="2834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No trend fitting across cycles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7656" y="3858768"/>
            <a:ext cx="27706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OLS linear regression on monthly aggregates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507992"/>
            <a:ext cx="10817352" cy="731520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4590288"/>
            <a:ext cx="1645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Goal
projection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42616" y="4590288"/>
            <a:ext cx="2834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Deterministic compound interest A = P(1+r)^t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0136" y="4590288"/>
            <a:ext cx="2834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Assumes fixed return; hides market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77656" y="4590288"/>
            <a:ext cx="27706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1,000-iteration Monte Carlo, P10 / P50 / P90 bands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349240"/>
            <a:ext cx="10817352" cy="84124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50468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1">
                <a:solidFill>
                  <a:srgbClr val="2DD4BF"/>
                </a:solidFill>
                <a:latin typeface="Segoe UI"/>
              </a:rPr>
              <a:t>RESEARCH GAP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No single open personal-finance platform combines NLP categorisation, unsupervised anomaly detection and stochastic projection behind one authenticated interface.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WealthAI  ·  Deviya HarshitKumar KalpeshKumar  ·  241VMTR01558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3276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54864" cy="3840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Segoe UI"/>
              </a:rPr>
              <a:t>CHAPTER 3  ·  PLANNING AND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Agile, eight weekly sprints, single developer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17352" cy="18288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Waterfall rejected — cannot absorb the requirement churn that appears when ML behaviour is validated against real data. Spiral rejected — risk-analysis overhead is disproportionate to an eight-week single-developer project.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310128"/>
            <a:ext cx="10817352" cy="36576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606040"/>
            <a:ext cx="1243584" cy="6858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1243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W1</a:t>
            </a:r>
          </a:p>
        </p:txBody>
      </p:sp>
      <p:sp>
        <p:nvSpPr>
          <p:cNvPr id="11" name="Oval 10"/>
          <p:cNvSpPr/>
          <p:nvPr/>
        </p:nvSpPr>
        <p:spPr>
          <a:xfrm>
            <a:off x="1243584" y="3246120"/>
            <a:ext cx="128016" cy="12801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520440"/>
            <a:ext cx="1426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Requirements &amp;
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2828" y="2606040"/>
            <a:ext cx="1243584" cy="6858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2828" y="2788920"/>
            <a:ext cx="1243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W2</a:t>
            </a:r>
          </a:p>
        </p:txBody>
      </p:sp>
      <p:sp>
        <p:nvSpPr>
          <p:cNvPr id="15" name="Oval 14"/>
          <p:cNvSpPr/>
          <p:nvPr/>
        </p:nvSpPr>
        <p:spPr>
          <a:xfrm>
            <a:off x="2610612" y="3246120"/>
            <a:ext cx="128016" cy="12801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1388" y="3520440"/>
            <a:ext cx="1426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Database &amp;
schema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9856" y="2606040"/>
            <a:ext cx="1243584" cy="6858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9856" y="2788920"/>
            <a:ext cx="1243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W3</a:t>
            </a:r>
          </a:p>
        </p:txBody>
      </p:sp>
      <p:sp>
        <p:nvSpPr>
          <p:cNvPr id="19" name="Oval 18"/>
          <p:cNvSpPr/>
          <p:nvPr/>
        </p:nvSpPr>
        <p:spPr>
          <a:xfrm>
            <a:off x="3977639" y="3246120"/>
            <a:ext cx="128016" cy="12801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28416" y="3520440"/>
            <a:ext cx="1426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Auth &amp;
core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86884" y="2606040"/>
            <a:ext cx="1243584" cy="6858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6884" y="2788920"/>
            <a:ext cx="1243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W4</a:t>
            </a:r>
          </a:p>
        </p:txBody>
      </p:sp>
      <p:sp>
        <p:nvSpPr>
          <p:cNvPr id="23" name="Oval 22"/>
          <p:cNvSpPr/>
          <p:nvPr/>
        </p:nvSpPr>
        <p:spPr>
          <a:xfrm>
            <a:off x="5344668" y="3246120"/>
            <a:ext cx="128016" cy="12801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5444" y="3520440"/>
            <a:ext cx="1426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Ledger &amp;
budgeting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3912" y="2606040"/>
            <a:ext cx="1243584" cy="685800"/>
          </a:xfrm>
          <a:prstGeom prst="roundRect">
            <a:avLst>
              <a:gd name="adj" fmla="val 10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53912" y="2788920"/>
            <a:ext cx="1243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W5</a:t>
            </a:r>
          </a:p>
        </p:txBody>
      </p:sp>
      <p:sp>
        <p:nvSpPr>
          <p:cNvPr id="27" name="Oval 26"/>
          <p:cNvSpPr/>
          <p:nvPr/>
        </p:nvSpPr>
        <p:spPr>
          <a:xfrm>
            <a:off x="6711696" y="3246120"/>
            <a:ext cx="128016" cy="12801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62472" y="3520440"/>
            <a:ext cx="1426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ML micro-
service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20940" y="2606040"/>
            <a:ext cx="1243584" cy="685800"/>
          </a:xfrm>
          <a:prstGeom prst="roundRect">
            <a:avLst>
              <a:gd name="adj" fmla="val 10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20940" y="2788920"/>
            <a:ext cx="1243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W6</a:t>
            </a:r>
          </a:p>
        </p:txBody>
      </p:sp>
      <p:sp>
        <p:nvSpPr>
          <p:cNvPr id="31" name="Oval 30"/>
          <p:cNvSpPr/>
          <p:nvPr/>
        </p:nvSpPr>
        <p:spPr>
          <a:xfrm>
            <a:off x="8078724" y="3246120"/>
            <a:ext cx="128016" cy="12801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29500" y="3520440"/>
            <a:ext cx="1426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Portfolio &amp;
market 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87968" y="2606040"/>
            <a:ext cx="1243584" cy="685800"/>
          </a:xfrm>
          <a:prstGeom prst="roundRect">
            <a:avLst>
              <a:gd name="adj" fmla="val 10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87968" y="2788920"/>
            <a:ext cx="1243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W7</a:t>
            </a:r>
          </a:p>
        </p:txBody>
      </p:sp>
      <p:sp>
        <p:nvSpPr>
          <p:cNvPr id="35" name="Oval 34"/>
          <p:cNvSpPr/>
          <p:nvPr/>
        </p:nvSpPr>
        <p:spPr>
          <a:xfrm>
            <a:off x="9445752" y="3246120"/>
            <a:ext cx="128016" cy="12801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96528" y="3520440"/>
            <a:ext cx="1426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Chatbot &amp;
dashboard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54996" y="2606040"/>
            <a:ext cx="1243584" cy="685800"/>
          </a:xfrm>
          <a:prstGeom prst="roundRect">
            <a:avLst>
              <a:gd name="adj" fmla="val 10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54996" y="2788920"/>
            <a:ext cx="12435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W8</a:t>
            </a:r>
          </a:p>
        </p:txBody>
      </p:sp>
      <p:sp>
        <p:nvSpPr>
          <p:cNvPr id="39" name="Oval 38"/>
          <p:cNvSpPr/>
          <p:nvPr/>
        </p:nvSpPr>
        <p:spPr>
          <a:xfrm>
            <a:off x="10812780" y="3246120"/>
            <a:ext cx="128016" cy="12801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63556" y="3520440"/>
            <a:ext cx="1426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Testing &amp;
deployment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462272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2DD4BF"/>
                </a:solidFill>
                <a:latin typeface="Segoe UI"/>
              </a:rPr>
              <a:t>KEY RISKS AND MITIGATIONS  (Table 3.2)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4828032"/>
            <a:ext cx="10817352" cy="34747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" y="4910328"/>
            <a:ext cx="3657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Risk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54296" y="4910328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Probability / Impact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0296" y="4910328"/>
            <a:ext cx="450799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Mitigation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5175504"/>
            <a:ext cx="10817352" cy="34747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" y="5257800"/>
            <a:ext cx="3657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Cold-start delay on Render free tier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54296" y="5257800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Medium / Low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0296" y="5257800"/>
            <a:ext cx="450799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Lightweight GET /health ping checks during startup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" y="5522976"/>
            <a:ext cx="10817352" cy="347472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" y="5605272"/>
            <a:ext cx="3657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Categoriser unreliable on sparse data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54296" y="5605272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Medium / Medium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0296" y="5605272"/>
            <a:ext cx="450799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Rule-based keyword dictionary fallback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" y="5870448"/>
            <a:ext cx="10817352" cy="34747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3816" y="5952744"/>
            <a:ext cx="3657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Unstable public market data responses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54296" y="5952744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Low / High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40296" y="5952744"/>
            <a:ext cx="450799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Exception wrappers around yfinance; cached close quotes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WealthAI  ·  Deviya HarshitKumar KalpeshKumar  ·  241VMTR01558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07040" y="63276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54864" cy="3840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Segoe UI"/>
              </a:rPr>
              <a:t>CHAPTER 4  · 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MERN foundation, Python microservice for the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17352" cy="18288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2606040" cy="4069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260604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1488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DD4BF"/>
                </a:solidFill>
                <a:latin typeface="Segoe UI"/>
              </a:rP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0604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React.js +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862072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Single-page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4290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Material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685032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Component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2519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Recharts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07992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Charts and visualisation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50749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Axios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5330952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REST client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1874519"/>
            <a:ext cx="2606040" cy="4069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0" y="1874519"/>
            <a:ext cx="2606040" cy="54864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30752" y="21488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818CF8"/>
                </a:solidFill>
                <a:latin typeface="Segoe UI"/>
              </a:rPr>
              <a:t>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752" y="260604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Node.js + Express.js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2862072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REST API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0752" y="34290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JWT middleware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752" y="3685032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Route authorisation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0752" y="42519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bcryptjs (salt 10)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0752" y="4507992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Password hashing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30752" y="50749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Mongoose ODM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30752" y="5330952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Data modelling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1874519"/>
            <a:ext cx="2606040" cy="4069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1874519"/>
            <a:ext cx="2606040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21488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DD4BF"/>
                </a:solidFill>
                <a:latin typeface="Segoe UI"/>
              </a:rPr>
              <a:t>MACHINE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9672" y="260604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Python + Flask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9672" y="2862072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Analytics microservice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9672" y="34290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scikit-learn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3685032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TF-IDF, Naive Bayes, IsolationForest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9672" y="42519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pandas / NumPy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9672" y="4507992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Aggregation and simulation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9672" y="50749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yfinance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9672" y="5330952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Live market data gateway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59" y="1874519"/>
            <a:ext cx="2606040" cy="4069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52559" y="1874519"/>
            <a:ext cx="2606040" cy="54864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08591" y="21488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818CF8"/>
                </a:solidFill>
                <a:latin typeface="Segoe UI"/>
              </a:rPr>
              <a:t>DATA &amp; CLOUD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8591" y="260604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MongoDB Atlas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08591" y="2862072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Managed cluster, indexed per user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08591" y="34290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Vercel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08591" y="3685032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Frontend hosting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08591" y="42519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Render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08591" y="4507992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API + ML service hosting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08591" y="50749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GitHub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08591" y="5330952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Version control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WealthAI  ·  Deviya HarshitKumar KalpeshKumar  ·  241VMTR01558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3276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54864" cy="3840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Segoe UI"/>
              </a:rPr>
              <a:t>CHAPTER 4  ·  FIGURE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Three-tier microservice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17352" cy="18288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77440" y="1783080"/>
            <a:ext cx="7406640" cy="868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920240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2DD4BF"/>
                </a:solidFill>
                <a:latin typeface="Segoe UI"/>
              </a:rPr>
              <a:t>PRESENTATION TIER  ·  Vercel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240280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React.js SPA    |    Material UI    |    Recharts    |    Axios 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16752" y="2651760"/>
            <a:ext cx="45720" cy="5669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76148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Authenticated HTTP / REST  (JWT bearer)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3218688"/>
            <a:ext cx="7406640" cy="1143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3346704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818CF8"/>
                </a:solidFill>
                <a:latin typeface="Segoe UI"/>
              </a:rPr>
              <a:t>APPLICATION TIER  ·  Render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657600"/>
            <a:ext cx="694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Node.js + Express.js REST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950208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JWT authorisation middleware  ·  bcrypt security  ·  routers: auth, transactions, budgets, goals, portfolio, analytics, chatbot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4361688"/>
            <a:ext cx="45720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4361688"/>
            <a:ext cx="45720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0" y="444398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Mongoose ODM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44398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internal REST proxy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4818888"/>
            <a:ext cx="4617720" cy="1234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91640" y="495604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Segoe UI"/>
              </a:rPr>
              <a:t>DATA STORAGE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23036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MongoDB Atlas cloud cluster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53212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Users · Transactions · Budgets · Goals · Holdings · PortfolioTransactions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818888"/>
            <a:ext cx="4617720" cy="1234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95604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Segoe UI"/>
              </a:rPr>
              <a:t>MACHINE LEARNING TIER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23036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Python Flask microservice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53212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scikit-learn (TF-IDF, Naive Bayes) · IsolationForest · Monte Carlo · yfinance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1783080"/>
            <a:ext cx="1463040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011680"/>
            <a:ext cx="1554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1">
                <a:solidFill>
                  <a:srgbClr val="2DD4BF"/>
                </a:solidFill>
                <a:latin typeface="Segoe UI"/>
              </a:rPr>
              <a:t>Strict tier separation: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the browser never reaches the ML service directly.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WealthAI  ·  Deviya HarshitKumar KalpeshKumar  ·  241VMTR01558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3276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54864" cy="3840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Segoe UI"/>
              </a:rPr>
              <a:t>CHAPTER 4  ·  TABLE 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Machine learning pipelines and hyperparameters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17352" cy="18288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10817352" cy="42062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56815"/>
            <a:ext cx="246887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System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65576" y="1956815"/>
            <a:ext cx="210312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51576" y="1956815"/>
            <a:ext cx="31089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3416" y="1956815"/>
            <a:ext cx="240487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Fallback rule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295144"/>
            <a:ext cx="10817352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" y="2377439"/>
            <a:ext cx="24688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Transaction categorisation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5576" y="2377439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Multinomial Naive Bayes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51576" y="2377439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D4BF"/>
                </a:solidFill>
                <a:latin typeface="Consolas"/>
              </a:rPr>
              <a:t>TfidfVectorizer(lowercase=True,
stop_words='english', ngram_range=(1,2))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377439"/>
            <a:ext cx="24048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Keyword dictionary match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026663"/>
            <a:ext cx="10817352" cy="731520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108959"/>
            <a:ext cx="24688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Anomaly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5576" y="3108959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Isolation 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1576" y="3108959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D4BF"/>
                </a:solidFill>
                <a:latin typeface="Consolas"/>
              </a:rPr>
              <a:t>n_estimators=100, contamination=0.05,
random_state=42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3108959"/>
            <a:ext cx="24048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Z-score &gt; 2.5 when n &lt; 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758183"/>
            <a:ext cx="10817352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3840479"/>
            <a:ext cx="24688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Expense forecasting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65576" y="3840479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OLS Linear Regression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51576" y="3840479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D4BF"/>
                </a:solidFill>
                <a:latin typeface="Consolas"/>
              </a:rPr>
              <a:t>LinearRegression() on monthly
aggregate expenditure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3416" y="3840479"/>
            <a:ext cx="24048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Rolling average when span &lt; 3 months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489703"/>
            <a:ext cx="10817352" cy="731520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4571999"/>
            <a:ext cx="24688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Goal / portfolio projection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65576" y="4571999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Monte Carlo simulation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51576" y="4571999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D4BF"/>
                </a:solidFill>
                <a:latin typeface="Consolas"/>
              </a:rPr>
              <a:t>N = 1000 iterations, Gaussian returns
(mu, sigma), P10 / P50 / P90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3416" y="4571999"/>
            <a:ext cx="24048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Deterministic compound interest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221223"/>
            <a:ext cx="10817352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" y="5303519"/>
            <a:ext cx="24688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Market data retrieval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65576" y="5303519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yfinance gateway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51576" y="5303519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D4BF"/>
                </a:solidFill>
                <a:latin typeface="Consolas"/>
              </a:rPr>
              <a:t>Real-time ticker quotes and
symbol 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3416" y="5303519"/>
            <a:ext cx="24048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Cached historic close quotes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9893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Every pipeline has a deterministic fallback, so the product never fails closed when the model lacks data.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WealthAI  ·  Deviya HarshitKumar KalpeshKumar  ·  241VMTR01558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3276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54864" cy="3840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Segoe UI"/>
              </a:rPr>
              <a:t>CHAPTER 4  ·  TABLES 4.1 – 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Data model and service interfaces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17352" cy="18288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DD4BF"/>
                </a:solidFill>
                <a:latin typeface="Segoe UI"/>
              </a:rPr>
              <a:t>MONGODB COLLECTIONS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12848"/>
            <a:ext cx="5120640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2295144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2295144"/>
            <a:ext cx="3154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Key attributes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78608"/>
            <a:ext cx="512064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660903"/>
            <a:ext cx="1600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6896" y="2660903"/>
            <a:ext cx="31546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name, email (unique), password (bcrypt hash)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962656"/>
            <a:ext cx="5120640" cy="384048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3044951"/>
            <a:ext cx="1600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Transaction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6896" y="3044951"/>
            <a:ext cx="31546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date, description, amount, category, ref: User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346703"/>
            <a:ext cx="512064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428999"/>
            <a:ext cx="1600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Budget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3428999"/>
            <a:ext cx="31546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category, limitAmount, period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730752"/>
            <a:ext cx="5120640" cy="384048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3813048"/>
            <a:ext cx="1600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6896" y="3813048"/>
            <a:ext cx="31546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title, targetAmount, currentAmount, targetDate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114800"/>
            <a:ext cx="512064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4197096"/>
            <a:ext cx="1600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Holding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6896" y="4197096"/>
            <a:ext cx="31546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symbol, shares, buyPrice, assetType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498848"/>
            <a:ext cx="5120640" cy="384048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4581144"/>
            <a:ext cx="1600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PortfolioTransaction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4581144"/>
            <a:ext cx="31546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symbol, type (BUY/SELL), shares, price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89204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Every collection is indexed on the user reference, so each query is scoped to one authenticated account — multi-tenant isolation at the data layer.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1828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818CF8"/>
                </a:solidFill>
                <a:latin typeface="Segoe UI"/>
              </a:rPr>
              <a:t>FLASK ML MICROSERVICE ENDPOINTS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2512" y="2212848"/>
            <a:ext cx="5120640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2295144"/>
            <a:ext cx="214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Endpoint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42248" y="2295144"/>
            <a:ext cx="2606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Returns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82512" y="2578608"/>
            <a:ext cx="512064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2660903"/>
            <a:ext cx="21488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2DD4BF"/>
                </a:solidFill>
                <a:latin typeface="Consolas"/>
              </a:rPr>
              <a:t>POST /predict/category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42248" y="2660903"/>
            <a:ext cx="2606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TF-IDF + Naive Bayes category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2962656"/>
            <a:ext cx="5120640" cy="384048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3044951"/>
            <a:ext cx="21488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2DD4BF"/>
                </a:solidFill>
                <a:latin typeface="Consolas"/>
              </a:rPr>
              <a:t>POST /predict/anomaly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42248" y="3044951"/>
            <a:ext cx="2606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Isolation Forest / Z-score outliers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82512" y="3346703"/>
            <a:ext cx="512064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3428999"/>
            <a:ext cx="21488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2DD4BF"/>
                </a:solidFill>
                <a:latin typeface="Consolas"/>
              </a:rPr>
              <a:t>POST /predict/expense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42248" y="3428999"/>
            <a:ext cx="2606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Linear regression spend forecast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82512" y="3730752"/>
            <a:ext cx="5120640" cy="384048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0528" y="3813048"/>
            <a:ext cx="21488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2DD4BF"/>
                </a:solidFill>
                <a:latin typeface="Consolas"/>
              </a:rPr>
              <a:t>POST /portfolio/quote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42248" y="3813048"/>
            <a:ext cx="2606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Live yfinance price quotes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82512" y="4114800"/>
            <a:ext cx="512064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10528" y="4197096"/>
            <a:ext cx="21488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2DD4BF"/>
                </a:solidFill>
                <a:latin typeface="Consolas"/>
              </a:rPr>
              <a:t>POST /portfolio/analyze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42248" y="4197096"/>
            <a:ext cx="2606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Allocation and risk metrics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82512" y="4498848"/>
            <a:ext cx="5120640" cy="384048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0528" y="4581144"/>
            <a:ext cx="21488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2DD4BF"/>
                </a:solidFill>
                <a:latin typeface="Consolas"/>
              </a:rPr>
              <a:t>POST /portfolio/simulate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42248" y="4581144"/>
            <a:ext cx="2606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1,000-iteration Monte Carlo bands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82512" y="4882896"/>
            <a:ext cx="512064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10528" y="4965192"/>
            <a:ext cx="21488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2DD4BF"/>
                </a:solidFill>
                <a:latin typeface="Consolas"/>
              </a:rPr>
              <a:t>POST /chatbot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42248" y="4965192"/>
            <a:ext cx="2606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Context-aware financial guidance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82512" y="525780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Express exposes seven routers: auth, transactions, budgets, goals, portfolio, analytics, chatbot.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WealthAI  ·  Deviya HarshitKumar KalpeshKumar  ·  241VMTR01558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07040" y="63276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DD4BF"/>
                </a:solidFill>
                <a:latin typeface="Segoe UI"/>
              </a:rP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Live System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384048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Running against the deployed cloud environment — not a local build.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663440"/>
            <a:ext cx="1481328" cy="566928"/>
          </a:xfrm>
          <a:prstGeom prst="roundRect">
            <a:avLst>
              <a:gd name="adj" fmla="val 14000"/>
            </a:avLst>
          </a:prstGeom>
          <a:solidFill>
            <a:srgbClr val="0F172A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828032"/>
            <a:ext cx="1481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Segoe UI"/>
              </a:rPr>
              <a:t>Register / JWT login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1448" y="4663440"/>
            <a:ext cx="1481328" cy="566928"/>
          </a:xfrm>
          <a:prstGeom prst="roundRect">
            <a:avLst>
              <a:gd name="adj" fmla="val 14000"/>
            </a:avLst>
          </a:prstGeom>
          <a:solidFill>
            <a:srgbClr val="0F172A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41448" y="4828032"/>
            <a:ext cx="1481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Segoe UI"/>
              </a:rPr>
              <a:t>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14216" y="4663440"/>
            <a:ext cx="1481328" cy="566928"/>
          </a:xfrm>
          <a:prstGeom prst="roundRect">
            <a:avLst>
              <a:gd name="adj" fmla="val 14000"/>
            </a:avLst>
          </a:prstGeom>
          <a:solidFill>
            <a:srgbClr val="0F172A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14216" y="4828032"/>
            <a:ext cx="1481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Segoe UI"/>
              </a:rPr>
              <a:t>Add transaction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6984" y="4663440"/>
            <a:ext cx="1481328" cy="566928"/>
          </a:xfrm>
          <a:prstGeom prst="roundRect">
            <a:avLst>
              <a:gd name="adj" fmla="val 14000"/>
            </a:avLst>
          </a:prstGeom>
          <a:solidFill>
            <a:srgbClr val="0F172A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6984" y="4828032"/>
            <a:ext cx="1481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Segoe UI"/>
              </a:rPr>
              <a:t>Budgets &amp; goals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9752" y="4663440"/>
            <a:ext cx="1481328" cy="566928"/>
          </a:xfrm>
          <a:prstGeom prst="roundRect">
            <a:avLst>
              <a:gd name="adj" fmla="val 14000"/>
            </a:avLst>
          </a:prstGeom>
          <a:solidFill>
            <a:srgbClr val="0F172A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59752" y="4828032"/>
            <a:ext cx="1481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Segoe UI"/>
              </a:rPr>
              <a:t>Portfolio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4663440"/>
            <a:ext cx="1481328" cy="566928"/>
          </a:xfrm>
          <a:prstGeom prst="roundRect">
            <a:avLst>
              <a:gd name="adj" fmla="val 14000"/>
            </a:avLst>
          </a:prstGeom>
          <a:solidFill>
            <a:srgbClr val="0F172A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4828032"/>
            <a:ext cx="1481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Segoe UI"/>
              </a:rPr>
              <a:t>Aurelia chatbot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05288" y="4663440"/>
            <a:ext cx="1481328" cy="566928"/>
          </a:xfrm>
          <a:prstGeom prst="roundRect">
            <a:avLst>
              <a:gd name="adj" fmla="val 14000"/>
            </a:avLst>
          </a:prstGeom>
          <a:solidFill>
            <a:srgbClr val="0F172A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05288" y="4828032"/>
            <a:ext cx="1481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2E8F0"/>
                </a:solidFill>
                <a:latin typeface="Segoe UI"/>
              </a:rPr>
              <a:t>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3276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54864" cy="3840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Segoe UI"/>
              </a:rPr>
              <a:t>CHAPTER 5  ·  RESULTS OF THE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Deployed and live on cloud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17352" cy="18288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285232" cy="109728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50292" cy="109728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39112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Frontend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React SPA on Vercel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06039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2DD4BF"/>
                </a:solidFill>
                <a:latin typeface="Consolas"/>
              </a:rPr>
              <a:t>finance-assistant-pearl-nu.vercel.app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285232" cy="109728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50292" cy="109728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2039112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Express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33172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Node.js REST layer on Render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606039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2DD4BF"/>
                </a:solidFill>
                <a:latin typeface="Consolas"/>
              </a:rPr>
              <a:t>finance-server-zfco.onrender.com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00400"/>
            <a:ext cx="5285232" cy="109728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200400"/>
            <a:ext cx="50292" cy="109728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364992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Flask ML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65760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Python analytics on Render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9319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2DD4BF"/>
                </a:solidFill>
                <a:latin typeface="Consolas"/>
              </a:rPr>
              <a:t>finance-ml-service-pw5a.onrender.com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200400"/>
            <a:ext cx="5285232" cy="1097280"/>
          </a:xfrm>
          <a:prstGeom prst="roundRect">
            <a:avLst>
              <a:gd name="adj" fmla="val 7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200400"/>
            <a:ext cx="50292" cy="109728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3364992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59" y="365760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MongoDB Atlas managed cluster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39319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2DD4BF"/>
                </a:solidFill>
                <a:latin typeface="Consolas"/>
              </a:rPr>
              <a:t>cluster0 · indexed per user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498848"/>
            <a:ext cx="10817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DD4BF"/>
                </a:solidFill>
                <a:latin typeface="Segoe UI"/>
              </a:rPr>
              <a:t>ALL SEVEN FUNCTIONAL MODULES OF SECTION 1.3.2 WERE DELIVERED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846320"/>
            <a:ext cx="10817352" cy="34747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" y="4928616"/>
            <a:ext cx="7863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Evaluation metric (Table 5.1)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0536" y="4928616"/>
            <a:ext cx="258775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Measured value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193792"/>
            <a:ext cx="10817352" cy="34747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" y="5276088"/>
            <a:ext cx="7863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TF-IDF + Naive Bayes classification 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0536" y="5276088"/>
            <a:ext cx="258775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___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5541264"/>
            <a:ext cx="10817352" cy="347472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" y="5623559"/>
            <a:ext cx="7863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Isolation Forest anomaly detection precision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0536" y="5623559"/>
            <a:ext cx="258775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___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5888736"/>
            <a:ext cx="10817352" cy="347472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" y="5971031"/>
            <a:ext cx="7863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Monte Carlo latency per 1,000 iterations / average REST latency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0536" y="5971031"/>
            <a:ext cx="258775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___ 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WealthAI  ·  Deviya HarshitKumar KalpeshKumar  ·  241VMTR01558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3276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54864" cy="3840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Segoe UI"/>
              </a:rPr>
              <a:t>CHAPTER 5  · 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 the analysis showed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17352" cy="18288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285232" cy="187451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2194560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5856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221991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Integrated NLP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TF-IDF vectorisation paired with Naive Bayes gave rapid, accurate classification of standard transaction descriptions at very low computational cost.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285232" cy="187451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59" y="2194560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225856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221991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Adaptive anomaly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78892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Isolation Forest detected unusual transactions reliably on larger datasets, while the Z-score fallback held up for accounts with fewer than 15 transactions.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977639"/>
            <a:ext cx="5285232" cy="187451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5840" y="4297679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36168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32511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Stochastic beats static forecasting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9204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Monte Carlo projections factored in market volatility and produced realistic outcome ranges, outperforming fixed-return calculators.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77639"/>
            <a:ext cx="5285232" cy="187451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37959" y="4297679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436168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32511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Microservice isolation as 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489204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Routing every client request through the Node.js API kept the Python ML service off the public browser path and preserved tenant isolation.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WealthAI  ·  Deviya HarshitKumar KalpeshKumar  ·  241VMTR01558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3276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54864" cy="3840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Segoe UI"/>
              </a:rPr>
              <a:t>CHAPTER 5  ·  HONEST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Known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17352" cy="18288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10817352" cy="78638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45720" cy="78638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02536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Free-tier cold starts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993391"/>
            <a:ext cx="7086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The Render free tier idles the ML service; the first chatbot or analytics call after an idle period takes noticeably longer. Mitigated with health pings, not eliminated.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24912"/>
            <a:ext cx="10817352" cy="786384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724912"/>
            <a:ext cx="45720" cy="78638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85292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Evaluation on a modest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843784"/>
            <a:ext cx="7086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Model metrics were measured on the project's own test ledger and a sample bank-statement CSV, not on a large public benchmark corpus.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575304"/>
            <a:ext cx="10817352" cy="78638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575304"/>
            <a:ext cx="45720" cy="78638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7033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CSV-only ingestion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694176"/>
            <a:ext cx="7086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No direct bank connectivity. Statements must be exported and uploaded manually.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425696"/>
            <a:ext cx="10817352" cy="786384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425696"/>
            <a:ext cx="45720" cy="78638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55371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Mobile parity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544568"/>
            <a:ext cx="7086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The mobile navigation does not yet expose the quick-add, search and avatar menu that the desktop navbar provides.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276088"/>
            <a:ext cx="10817352" cy="78638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5276088"/>
            <a:ext cx="45720" cy="78638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404103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No conversation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5394959"/>
            <a:ext cx="7086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Chatbot sessions are not persisted across logins — this needs a new collection and CRUD routes.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WealthAI  ·  Deviya HarshitKumar KalpeshKumar  ·  241VMTR01558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3276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66928"/>
            <a:ext cx="54864" cy="3840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3035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Segoe UI"/>
              </a:rPr>
              <a:t>CHAPTER 5  ·  RECOMMENDATIONS AND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82296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Where WealthAI goes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817352" cy="18288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2DD4BF"/>
                </a:solidFill>
                <a:latin typeface="Segoe UI"/>
              </a:rPr>
              <a:t>NEAR-TERM RECOMMENDATIONS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5120640" cy="8412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Model retraining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700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Periodically retrain Naive Bayes on anonymised user-verified labels.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72968"/>
            <a:ext cx="5120640" cy="8412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101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Redis caching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0273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Cache market quotes to cut repeated yfinance calls.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105656"/>
            <a:ext cx="5120640" cy="8412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428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Open banking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3542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Plaid or Account Aggregator feeds alongside CSV upload.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038344"/>
            <a:ext cx="5120640" cy="8412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17550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Custom classification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6811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Let users override ML categories with their own keywords.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18288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818CF8"/>
                </a:solidFill>
                <a:latin typeface="Segoe UI"/>
              </a:rPr>
              <a:t>LONGER-TERM SCOPE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240280"/>
            <a:ext cx="5120640" cy="8412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2" y="23774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Native mobile apps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26700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React Native clients re-using the existing REST API.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82512" y="3172968"/>
            <a:ext cx="5120640" cy="8412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02552" y="33101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LLM-backed advisor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2552" y="360273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Expand the chatbot into a fully conversational financial advisor.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82512" y="4105656"/>
            <a:ext cx="5120640" cy="8412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2" y="42428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Tax optimisation module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2552" y="453542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Automated tax-bracket analysis and planning.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82512" y="5038344"/>
            <a:ext cx="5120640" cy="841248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5875">
            <a:solidFill>
              <a:srgbClr val="273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02552" y="517550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Multi-currency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2552" y="546811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Automatic conversion for international accounts.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3276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WealthAI  ·  Deviya HarshitKumar KalpeshKumar  ·  241VMTR01558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3276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4864" cy="3840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3035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2DD4BF"/>
                </a:solidFill>
                <a:latin typeface="Segoe UI"/>
              </a:rPr>
              <a:t>CHAPTER 5  · 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82296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WealthAI closes the loop from ledger to forecast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81328"/>
            <a:ext cx="10817352" cy="18288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E2E8F0"/>
                </a:solidFill>
                <a:latin typeface="Segoe UI"/>
              </a:rPr>
              <a:t>WealthAI addresses the four core problems of personal finance management — data fragmentation, manual categorisation effort, undetected anomalies and static goal forecasting — by combining a MERN web interface with a dedicated Python machine learning microservice, deployed and running on cloud infrastructure.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429000"/>
            <a:ext cx="2029968" cy="9601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39312"/>
            <a:ext cx="1847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NLP
categorisation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4952" y="3429000"/>
            <a:ext cx="2029968" cy="9601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36392" y="3639312"/>
            <a:ext cx="1847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Isolation Forest
outliers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21224" y="3429000"/>
            <a:ext cx="2029968" cy="9601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2664" y="3639312"/>
            <a:ext cx="1847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Linear regression
forecasts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97496" y="3429000"/>
            <a:ext cx="2029968" cy="9601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587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88936" y="3639312"/>
            <a:ext cx="1847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Live market
tracking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73768" y="3429000"/>
            <a:ext cx="2029968" cy="9601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65208" y="3639312"/>
            <a:ext cx="1847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E2E8F0"/>
                </a:solidFill>
                <a:latin typeface="Segoe UI"/>
              </a:rPr>
              <a:t>1,000-run Monte
Carlo projection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4800600"/>
            <a:ext cx="10451592" cy="18288"/>
          </a:xfrm>
          <a:prstGeom prst="rect">
            <a:avLst/>
          </a:prstGeom>
          <a:solidFill>
            <a:srgbClr val="273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2064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Thank you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Questions welcome.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166360"/>
            <a:ext cx="4023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Deviya HarshitKumar KalpeshKumar</a:t>
            </a:r>
          </a:p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USN 241VMTR01558  ·  MCA Semester IV</a:t>
            </a:r>
          </a:p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Guide: Prof. Prabha S</a:t>
            </a:r>
          </a:p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Jain Online (Deemed-to-be University)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276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